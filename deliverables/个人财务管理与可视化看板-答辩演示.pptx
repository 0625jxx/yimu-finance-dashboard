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开场说明：本项目不是静态原型，而是一套可运行、可测试、可打包的课程提交版。先介绍为什么做，再展示体系结构和现场演示路径。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说明产品价值链。强调系统以可解释的指标与行动入口为终点，而不只是保存流水。范围是单用户、本地优先。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按导航顺序讲解六个页面。重点指出数据治理不是独立孤岛，而是贯穿交易和所有派生指标。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解释每层只做什么，以及为什么余额、报表计算必须放在 Model。指出未来切换后端时，界面与大部分控制逻辑可保持不变。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以‘新增 50 元咖啡支出’为例走一遍事件链。观察者模式使 Model 不需要知道页面上有多少卡片或图表。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这页重点回答财务软件如何保证计算可信。可现场举例说明转账不应该同时放大收入和支出。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演示首页时先切换金额隐藏，再新增一笔交易，让净现金流、最近交易和账户余额同时变化。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说明图表数据全部来自同一个交易集合，切换月份即可重算。强调洞察是规则化建议，不是投资建议。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说明我们没有把本地存储包装成生产级安全。安全设计包括技术控制，也包括清晰的信任边界声明。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如果老师问如何证明不是静态页面，可现场运行 npm run validate，再双击 run.bat 启动 JAR。浏览器测试还会真实填写表单并截图。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结束后进入现场演示。建议顺序：概览 → 新增交易 → 预算 → 报表 → 数据导出。然后回答问题。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58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6D3C4"/>
                </a:solidFill>
              </a:rPr>
              <a:t>软件系统设计与体系结构综合实训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个人财务管理与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可视化看板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04672" y="312724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EB"/>
                </a:solidFill>
              </a:rPr>
              <a:t>让每一笔交易，都能解释一个财务结论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0"/>
            <a:ext cx="3337560" cy="434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335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1920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7B68"/>
                </a:solidFill>
              </a:rPr>
              <a:t>一目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75320" y="2971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账户 · 交易 · 预算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目标 · 报表 · 数据治理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AD5"/>
                </a:solidFill>
              </a:rPr>
              <a:t>姓名：【请填写】   学号：【请填写】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9CAD5"/>
                </a:solidFill>
              </a:rPr>
              <a:t>班级：【请填写】   指导教师：【请填写】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从流水记录到财务决策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" y="16642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D8F"/>
                </a:solidFill>
              </a:rPr>
              <a:t>用户真正需要回答的不是“记了几笔”，而是三个连续问题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31720"/>
            <a:ext cx="64008" cy="242316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96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钱在哪里？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898648"/>
            <a:ext cx="29260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统一资产与负债账户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从期初余额和交易实时推导当前净资产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23317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331720"/>
            <a:ext cx="64008" cy="2423160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496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花到哪里？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898648"/>
            <a:ext cx="29260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按月汇总收入与支出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用预算阈值、分类结构和趋势定位变化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331720"/>
            <a:ext cx="64008" cy="242316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496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下一步怎么做？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898648"/>
            <a:ext cx="29260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把结余转化为储蓄或还债目标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通过本月洞察给出克制、可解释的行动建议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7B68"/>
                </a:solidFill>
              </a:rPr>
              <a:t>核心闭环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51937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记录  →  校验  →  汇总  →  发现偏差  →  调整行动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六个业务模块形成完整闭环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64208"/>
            <a:ext cx="64008" cy="150876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财务概览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23113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净资产 / 收支 / 资金轨迹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664208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664208"/>
            <a:ext cx="64008" cy="150876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223113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/ 编辑 / 筛选 / 删除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664208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664208"/>
            <a:ext cx="64008" cy="15087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21624" y="223113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 / 负债 / 动态余额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584448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584448"/>
            <a:ext cx="64008" cy="1508760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预算管理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15137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分类额度 / 阈值 / 删除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62272" y="3584448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62272" y="3584448"/>
            <a:ext cx="64008" cy="150876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目标管理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0872" y="415137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 / 还债 / 进度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93024" y="3584448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3024" y="3584448"/>
            <a:ext cx="64008" cy="150876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21624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分析报表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1624" y="415137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六个月趋势 / 分类结构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5532120"/>
            <a:ext cx="10789920" cy="594360"/>
          </a:xfrm>
          <a:prstGeom prst="round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67842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7B68"/>
                </a:solidFill>
              </a:rPr>
              <a:t>数据治理贯穿全局：CSV 导入 · 重复识别 · 批次撤销 · JSON 导出 · 彻底删除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MVC：把变化控制在清晰边界内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04</a:t>
            </a:r>
            <a:endParaRPr lang="en-US" sz="800" dirty="0"/>
          </a:p>
        </p:txBody>
      </p:sp>
      <p:pic>
        <p:nvPicPr>
          <p:cNvPr id="6" name="Image 0" descr="C:\Users\30216\Desktop\个人财务管理与可视化看板\deliverables\asset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62940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72768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5240" y="1572768"/>
            <a:ext cx="64008" cy="109728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1737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21396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封装状态、校验、整数分计算与持久化；不依赖 DOM。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2852928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2852928"/>
            <a:ext cx="64008" cy="109728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63840" y="3419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编排表单、导航、导入导出和高影响确认。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35240" y="4133088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4133088"/>
            <a:ext cx="64008" cy="1097280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4297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63840" y="47000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消费只读快照，统一渲染六个业务视图。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D8F"/>
                </a:solidFill>
              </a:rPr>
              <a:t>可替换点：localStorage → REST/数据库；Node 开发服务器 → Java 交付程序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观察者模式保证所有指标同步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05</a:t>
            </a:r>
            <a:endParaRPr lang="en-US" sz="800" dirty="0"/>
          </a:p>
        </p:txBody>
      </p:sp>
      <p:pic>
        <p:nvPicPr>
          <p:cNvPr id="6" name="Image 0" descr="C:\Users\30216\Desktop\个人财务管理与可视化看板\deliverables\assets\ob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649224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新增一笔交易后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35240" y="22402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D8F"/>
                </a:solidFill>
              </a:rPr>
              <a:t>① Store 校验账户和金额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2807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D8F"/>
                </a:solidFill>
              </a:rPr>
              <a:t>② 写入本地状态并持久化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33741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D8F"/>
                </a:solidFill>
              </a:rPr>
              <a:t>③ 发布 transaction:add 事件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39410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D8F"/>
                </a:solidFill>
              </a:rPr>
              <a:t>④ Controller 获取最新快照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35240" y="4507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7B68"/>
                </a:solidFill>
              </a:rPr>
              <a:t>⑤ 余额、预算、图表、报表同时刷新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89520" y="5257800"/>
            <a:ext cx="3703320" cy="685800"/>
          </a:xfrm>
          <a:prstGeom prst="round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545896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B68"/>
                </a:solidFill>
              </a:rPr>
              <a:t>收益：低耦合、一致性、可测试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正确性从数据模型开始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06</a:t>
            </a:r>
            <a:endParaRPr lang="en-US" sz="800" dirty="0"/>
          </a:p>
        </p:txBody>
      </p:sp>
      <p:pic>
        <p:nvPicPr>
          <p:cNvPr id="6" name="Image 0" descr="C:\Users\30216\Desktop\个人财务管理与可视化看板\deliverables\assets\data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612648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1536192"/>
            <a:ext cx="43159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0" y="1536192"/>
            <a:ext cx="64008" cy="114300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0920" y="170078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60920" y="2103120"/>
            <a:ext cx="3904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100.01 元存为 10001，避免二进制浮点累计误差。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32320" y="2862072"/>
            <a:ext cx="43159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0" y="2862072"/>
            <a:ext cx="64008" cy="114300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60920" y="302666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交易可追溯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60920" y="3429000"/>
            <a:ext cx="3904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账户只保存期初值；当前余额由全部相关交易推导。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32320" y="4187952"/>
            <a:ext cx="43159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0" y="4187952"/>
            <a:ext cx="64008" cy="1143000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60920" y="435254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60920" y="4754880"/>
            <a:ext cx="3904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转账抵消，不进入收入、支出和净现金流；零收入不计算结余率。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507492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净资产 = 资产余额合计 − 负债余额合计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核心界面：一眼看清财务状态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07</a:t>
            </a:r>
            <a:endParaRPr lang="en-US" sz="800" dirty="0"/>
          </a:p>
        </p:txBody>
      </p:sp>
      <p:pic>
        <p:nvPicPr>
          <p:cNvPr id="6" name="Image 0" descr="C:\Users\30216\Desktop\个人财务管理与可视化看板\tests\artifacts\dashboar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17904"/>
            <a:ext cx="7589520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536192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536192"/>
            <a:ext cx="64008" cy="114300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1700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首要指标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78240" y="210312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净资产、本月收支、结余率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49640" y="2907792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0" y="2907792"/>
            <a:ext cx="64008" cy="114300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0" y="3072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778240" y="347472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最近交易是每个汇总数字的来源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49640" y="4279392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9640" y="4279392"/>
            <a:ext cx="64008" cy="1143000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0" y="44439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跨端适配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78240" y="484632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桌面侧栏在移动端转换为底部导航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报表把记录转化为行动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08</a:t>
            </a:r>
            <a:endParaRPr lang="en-US" sz="800" dirty="0"/>
          </a:p>
        </p:txBody>
      </p:sp>
      <p:pic>
        <p:nvPicPr>
          <p:cNvPr id="6" name="Image 0" descr="C:\Users\30216\Desktop\个人财务管理与可视化看板\tests\artifacts\report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17904"/>
            <a:ext cx="7589520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536192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536192"/>
            <a:ext cx="64008" cy="114300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1700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78240" y="210312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最近六个月收入与支出并列比较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49640" y="2907792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0" y="2907792"/>
            <a:ext cx="64008" cy="114300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0" y="3072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778240" y="347472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支出分类按金额排序并展示占比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49640" y="4279392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9640" y="4279392"/>
            <a:ext cx="64008" cy="1143000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0" y="44439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78240" y="484632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根据净现金流给出可解释的文字建议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安全与可靠性是提交版的一部分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64208"/>
            <a:ext cx="64008" cy="1572768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输入与输出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23113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字段长度/金额/类型校验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实体编码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664208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664208"/>
            <a:ext cx="64008" cy="1572768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导入安全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223113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文件不超过 2MB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重复识别与批次撤销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664208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664208"/>
            <a:ext cx="64008" cy="15727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服务边界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21624" y="223113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127.0.0.1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 GET / HEAD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630168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630168"/>
            <a:ext cx="64008" cy="1572768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路径安全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19709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拒绝路径穿越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 .git 等隐藏目录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62272" y="3630168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62272" y="3630168"/>
            <a:ext cx="64008" cy="1572768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浏览器策略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0872" y="419709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 / nosniff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 iframe 嵌入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93024" y="3630168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3024" y="3630168"/>
            <a:ext cx="64008" cy="1572768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21624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1624" y="419709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导出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高风险删除必须确认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565099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7D8F"/>
                </a:solidFill>
              </a:rPr>
              <a:t>边界声明：localStorage 适合课程单用户演示；产品化必须补充认证、授权、加密和备份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7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软件系统设计与体系结构综合实训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测试证据与可执行交付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83564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D8F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7B68"/>
                </a:solidFill>
              </a:rPr>
              <a:t>32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87D8F"/>
                </a:solidFill>
              </a:rPr>
              <a:t>自动化测试全部通过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627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B729B"/>
                </a:solidFill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46120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87D8F"/>
                </a:solidFill>
              </a:rPr>
              <a:t>测试层次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627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36A3D"/>
                </a:solidFill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669280" y="2496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87D8F"/>
                </a:solidFill>
              </a:rPr>
              <a:t>浏览器控制台错误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600200"/>
            <a:ext cx="64008" cy="132588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一键运行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167128"/>
            <a:ext cx="2926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run.bat → Java 17 可执行 JAR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http://127.0.0.1:4173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337560"/>
            <a:ext cx="64008" cy="1508760"/>
          </a:xfrm>
          <a:prstGeom prst="rect">
            <a:avLst/>
          </a:prstGeom>
          <a:solidFill>
            <a:srgbClr val="167B68"/>
          </a:solidFill>
          <a:ln w="12700">
            <a:solidFill>
              <a:srgbClr val="167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5021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904488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余额、净资产、预算边界、CSV、观察者、目标和报表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16552" y="33375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3337560"/>
            <a:ext cx="64008" cy="1508760"/>
          </a:xfrm>
          <a:prstGeom prst="rect">
            <a:avLst/>
          </a:prstGeom>
          <a:solidFill>
            <a:srgbClr val="4B729B"/>
          </a:solidFill>
          <a:ln w="12700">
            <a:solidFill>
              <a:srgbClr val="4B72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5021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/ 安全测试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45152" y="3904488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MVC 页面结构、路径穿越、隐藏目录和安全响应头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10144" y="33375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0144" y="3337560"/>
            <a:ext cx="64008" cy="1508760"/>
          </a:xfrm>
          <a:prstGeom prst="rect">
            <a:avLst/>
          </a:prstGeom>
          <a:solidFill>
            <a:srgbClr val="E36A3D"/>
          </a:solidFill>
          <a:ln w="12700">
            <a:solidFill>
              <a:srgbClr val="E36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35021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真实浏览器回归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38744" y="3904488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交易编辑、导入撤销、预算、目标、报表和响应式布局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920240" y="5367528"/>
            <a:ext cx="8321040" cy="5943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553212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交付：源代码 + JAR + 报告 + PPT + 测试脚本 + 提交说明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13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D3C4"/>
                </a:solidFill>
              </a:rPr>
              <a:t>总结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体系结构最终要回答：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系统能否正确、清晰地应对变化？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D3C4"/>
                </a:solidFill>
              </a:rPr>
              <a:t>本项目给出的答案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" y="3520440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CE5EB"/>
                </a:solidFill>
              </a:rPr>
              <a:t>MVC 划分职责  ·  观察者保证一致性  ·  整数分保证正确性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5EB"/>
                </a:solidFill>
              </a:rPr>
              <a:t>自动化测试证明行为  ·  可执行 JAR 完成交付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0" y="1417320"/>
            <a:ext cx="27889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5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7B68"/>
                </a:solidFill>
              </a:rPr>
              <a:t>Q &amp; 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73252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谢谢老师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3252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D8F"/>
                </a:solidFill>
              </a:rPr>
              <a:t>演示地址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87D8F"/>
                </a:solidFill>
              </a:rPr>
              <a:t>127.0.0.1:4173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5870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4B5"/>
                </a:solidFill>
              </a:rPr>
              <a:t>【请填写姓名】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蚌埠学院计算机与信息工程学院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个人财务管理与可视化看板</dc:title>
  <dc:subject>软件系统设计与体系结构综合实训答辩</dc:subject>
  <dc:creator>一目项目组</dc:creator>
  <cp:lastModifiedBy>一目项目组</cp:lastModifiedBy>
  <cp:revision>1</cp:revision>
  <dcterms:created xsi:type="dcterms:W3CDTF">2026-09-14T06:36:01Z</dcterms:created>
  <dcterms:modified xsi:type="dcterms:W3CDTF">2026-09-14T06:36:01Z</dcterms:modified>
</cp:coreProperties>
</file>